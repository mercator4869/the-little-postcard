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63" r:id="rId15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≈20 秒｜开场</a:t>
            </a:r>
          </a:p>
          <a:p>
            <a:r>
              <a:t>大家好，我们是 The Little Postcard，明信片的星空。我们想做的不是又一首推荐给所有人的歌，而是让一张照片、一句没说出口的话，穿过星空，找到另一个相似的人。把此刻寄给星空，等待一个与你相似的人。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≈40 秒｜背景与痛点</a:t>
            </a:r>
          </a:p>
          <a:p>
            <a:r>
              <a:t>先从一个很普通的傍晚说起。你看见一片很好看的晚霞，拍下来，想写点什么，最后只留下“好看”；耳机里的歌让你想起一个时刻，却不知道说给谁听。照片留在相册，歌留在播放列表，心情留在自己这里。我们缺的不是照片，也不是音乐，缺的是一个能把此刻接住、再轻轻传下去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≈35 秒｜基于明信片的核心功能</a:t>
            </a:r>
          </a:p>
          <a:p>
            <a:r>
              <a:t>基于这张明信片，我们只做三个动作：看见、听见、留下。用照片和当下心情找到一张相近的明信片；翻面听见它带来的歌，也可以走进这首歌的星群；最后自愿留下照片和这句话，成为下一个人的回信。我们刻意不展示分数，因为这不是考试，而是一次相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≈55 秒｜完整流程</a:t>
            </a:r>
          </a:p>
          <a:p>
            <a:r>
              <a:t>完整的体验有五幕：上传照片写一句话；穿过星光加载；收到一张前人留下的明信片；翻到背面读信听歌；最后把此刻留在星空。这一页的五段都是现场录屏 GIF，放映时会自动播放；PDF 和预览图显示第一帧。加载不是等待，而是故事的一部分；结果不是终点，而是下一次传递的开始。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≈25 秒｜一个演示案例</a:t>
            </a:r>
          </a:p>
          <a:p>
            <a:r>
              <a:t>我们用这张火烧云照片和一句话来走一遍格式：输入只有照片和“好美的火烧云呀”，署名留空。输出是一张明信片和一首歌《火烧云》，背面是一句来自另一个人的回信。这不是在展示匹配分数，而是在展示同一套格式：一张照片、一句话，换一张被接住的回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≈45 秒｜技术与边界</a:t>
            </a:r>
          </a:p>
          <a:p>
            <a:r>
              <a:t>技术上保持小而完整：Flask、SQLite、CLIP 图像向量、中文文本语义和情绪微调，全部本地离线。图片是主排序，文字和情绪只在相近候选间微调，不展示分数。它当然有边界：固定素材、CPU 单机、没有账号、审核和版权系统，每次只返回一条结果。但正因为边界清晰，它可以成为音乐平台的场景/情绪分支，摄影、旅行社区的明信片功能，或者接上 UGC、审核、版权与实时推荐。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≈15 秒｜致谢</a:t>
            </a:r>
          </a:p>
          <a:p>
            <a:r>
              <a:t>最后，谢谢这次黑客松，谢谢评委和每一位参赛者，也谢谢所有把照片和心情留在星空里的人。我们希望技术不只是给出答案，也能替人保留一点浪漫。谢谢大家。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≈45 秒｜核心设计：一张明信片</a:t>
            </a:r>
          </a:p>
          <a:p>
            <a:r>
              <a:t>在讲功能之前，先讲这张明信片本身。它不是结果页里的一张图片，而是一个有正反面的物件：正面放照片，是你看见的晚霞、风和那一刻；背面放一句话、署名和日期，是当时没说出口的；邮票是一首歌，翻到背面才会听见。纸的质感是水彩、手绘和星光。一张纸，两个面；一个人，两个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4.xml"/><Relationship Id="rId9" Type="http://schemas.openxmlformats.org/officeDocument/2006/relationships/image" Target="../media/image10.gif"/><Relationship Id="rId10" Type="http://schemas.openxmlformats.org/officeDocument/2006/relationships/image" Target="../media/image11.gif"/><Relationship Id="rId11" Type="http://schemas.openxmlformats.org/officeDocument/2006/relationships/image" Target="../media/image12.gif"/><Relationship Id="rId12" Type="http://schemas.openxmlformats.org/officeDocument/2006/relationships/image" Target="../media/image13.gif"/><Relationship Id="rId13" Type="http://schemas.openxmlformats.org/officeDocument/2006/relationships/image" Target="../media/image14.gif"/><Relationship Id="rId14" Type="http://schemas.openxmlformats.org/officeDocument/2006/relationships/image" Target="../media/image15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6152B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303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 spc="16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HACKATHON 2026 · IMAGE2SONG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50749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0" i="0">
                <a:solidFill>
                  <a:srgbClr val="FFFBEF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56816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EDD39A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0" i="0">
                <a:solidFill>
                  <a:srgbClr val="EDD39A"/>
                </a:solidFill>
                <a:latin typeface="STXingkai"/>
                <a:ea typeface="STXingkai"/>
                <a:cs typeface="STXingkai"/>
              </a:rPr>
              <a:t>明信片的星空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79192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300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把此刻寄给星空，
等待一个与你相似的人。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4005072"/>
            <a:ext cx="1143000" cy="12801"/>
          </a:xfrm>
          <a:prstGeom prst="roundRect">
            <a:avLst>
              <a:gd name="adj" fmla="val 0"/>
            </a:avLst>
          </a:prstGeom>
          <a:solidFill>
            <a:srgbClr val="D9B87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 spc="50">
                <a:solidFill>
                  <a:srgbClr val="D8CAAD"/>
                </a:solidFill>
                <a:latin typeface="Georgia"/>
                <a:ea typeface="Georgia"/>
                <a:cs typeface="Georgia"/>
              </a:rPr>
              <a:t>A postcard from someone who felt the same.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96188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 spc="100">
                <a:solidFill>
                  <a:srgbClr val="C8BFAD"/>
                </a:solidFill>
                <a:latin typeface="KaiTi"/>
                <a:ea typeface="KaiTi"/>
                <a:cs typeface="KaiTi"/>
              </a:rPr>
              <a:t>图片 × 情绪 × 音乐  ·  一张会旅行的明信片</a:t>
            </a:r>
          </a:p>
        </p:txBody>
      </p:sp>
      <p:pic>
        <p:nvPicPr>
          <p:cNvPr id="13" name="Picture 12" descr="hero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35024"/>
            <a:ext cx="5623560" cy="23408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1335024"/>
            <a:ext cx="5623560" cy="2340864"/>
          </a:xfrm>
          <a:prstGeom prst="roundRect">
            <a:avLst>
              <a:gd name="adj" fmla="val 2000"/>
            </a:avLst>
          </a:prstGeom>
          <a:noFill/>
          <a:ln w="6985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8404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DD39A"/>
                </a:solidFill>
                <a:latin typeface="KaiTi"/>
                <a:ea typeface="KaiTi"/>
                <a:cs typeface="KaiTi"/>
              </a:rPr>
              <a:t>一封会旅行的信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3968496"/>
            <a:ext cx="822960" cy="0"/>
          </a:xfrm>
          <a:prstGeom prst="line">
            <a:avLst/>
          </a:prstGeom>
          <a:ln w="7620">
            <a:solidFill>
              <a:srgbClr val="D9B878">
                <a:alpha val="4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0" y="4526280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5328" y="491947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50" b="0" i="0">
                <a:solidFill>
                  <a:srgbClr val="B9A77F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6565392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IMAGE2SONG ·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5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85216"/>
            <a:ext cx="107899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 spc="50">
                <a:solidFill>
                  <a:srgbClr val="D9B878"/>
                </a:solidFill>
                <a:latin typeface="KaiTi"/>
                <a:ea typeface="KaiTi"/>
                <a:cs typeface="KaiTi"/>
              </a:rPr>
              <a:t>01 / 为什么做这件事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503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我们不是没有故事，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3075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只是很难把它说出口。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45920"/>
            <a:ext cx="10927080" cy="7315"/>
          </a:xfrm>
          <a:prstGeom prst="roundRect">
            <a:avLst>
              <a:gd name="adj" fmla="val 0"/>
            </a:avLst>
          </a:prstGeom>
          <a:solidFill>
            <a:srgbClr val="D9B87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01952"/>
            <a:ext cx="6583680" cy="4160520"/>
          </a:xfrm>
          <a:prstGeom prst="roundRect">
            <a:avLst>
              <a:gd name="adj" fmla="val 6000"/>
            </a:avLst>
          </a:prstGeom>
          <a:solidFill>
            <a:srgbClr val="020917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6583680" cy="4160520"/>
          </a:xfrm>
          <a:prstGeom prst="roundRect">
            <a:avLst>
              <a:gd name="adj" fmla="val 6000"/>
            </a:avLst>
          </a:prstGeom>
          <a:solidFill>
            <a:srgbClr val="F6F0E3"/>
          </a:solidFill>
          <a:ln w="10160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920240"/>
            <a:ext cx="2011680" cy="1097280"/>
          </a:xfrm>
          <a:prstGeom prst="ellipse">
            <a:avLst/>
          </a:prstGeom>
          <a:solidFill>
            <a:srgbClr val="9DBDD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2704" y="5029200"/>
            <a:ext cx="1645920" cy="914400"/>
          </a:xfrm>
          <a:prstGeom prst="ellipse">
            <a:avLst/>
          </a:prstGeom>
          <a:solidFill>
            <a:srgbClr val="D6B887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3911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20">
                <a:solidFill>
                  <a:srgbClr val="9A7238"/>
                </a:solidFill>
                <a:latin typeface="Segoe Print"/>
                <a:ea typeface="Segoe Print"/>
                <a:cs typeface="Segoe Print"/>
              </a:rPr>
              <a:t>A SMALL MOMENT  /  一个普通的傍晚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313432"/>
            <a:ext cx="4434840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2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你看见一片很好看的晚霞，举起手机拍下来。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2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想写点什么，最后只留下两个字：好看。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2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耳机里的那首歌，忽然让你想起某个时刻。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却不知道该把它说给谁听。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074920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60" b="0" i="1">
                <a:solidFill>
                  <a:srgbClr val="9A7238"/>
                </a:solidFill>
                <a:latin typeface="KaiTi"/>
                <a:ea typeface="KaiTi"/>
                <a:cs typeface="KaiTi"/>
              </a:rPr>
              <a:t>于是，照片留在相册，歌留在播放列表，
心情留在自己这里。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57784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9A7238"/>
                </a:solidFill>
                <a:latin typeface="Segoe Print"/>
                <a:ea typeface="Segoe Print"/>
                <a:cs typeface="Segoe Print"/>
              </a:rPr>
              <a:t>我们想：能不能让一张照片，成为一次相遇的开始？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993392"/>
            <a:ext cx="1627632" cy="1810512"/>
          </a:xfrm>
          <a:prstGeom prst="roundRect">
            <a:avLst>
              <a:gd name="adj" fmla="val 1500"/>
            </a:avLst>
          </a:prstGeom>
          <a:solidFill>
            <a:srgbClr val="FBF7EE"/>
          </a:solidFill>
          <a:ln w="7620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nset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112264"/>
            <a:ext cx="1389888" cy="1389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68112" y="354787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6C6C68"/>
                </a:solidFill>
                <a:latin typeface="KaiTi"/>
                <a:ea typeface="KaiTi"/>
                <a:cs typeface="KaiTi"/>
              </a:rPr>
              <a:t>2026 · 某个傍晚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847088"/>
            <a:ext cx="39776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5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缺的不是照片，
也不是音乐。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2944368"/>
            <a:ext cx="914400" cy="12801"/>
          </a:xfrm>
          <a:prstGeom prst="roundRect">
            <a:avLst>
              <a:gd name="adj" fmla="val 0"/>
            </a:avLst>
          </a:prstGeom>
          <a:solidFill>
            <a:srgbClr val="D9B87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312724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 i="0">
                <a:solidFill>
                  <a:srgbClr val="ECE2CE"/>
                </a:solidFill>
                <a:latin typeface="KaiTi"/>
                <a:ea typeface="KaiTi"/>
                <a:cs typeface="KaiTi"/>
              </a:rPr>
              <a:t>缺的是一个能把此刻接住，
再轻轻传下去的地方。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041648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402336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表达门槛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42611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C4BBA8"/>
                </a:solidFill>
                <a:latin typeface="KaiTi"/>
                <a:ea typeface="KaiTi"/>
                <a:cs typeface="KaiTi"/>
              </a:rPr>
              <a:t>照片很多，话很少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62686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4608576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内容孤岛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846320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C4BBA8"/>
                </a:solidFill>
                <a:latin typeface="KaiTi"/>
                <a:ea typeface="KaiTi"/>
                <a:cs typeface="KaiTi"/>
              </a:rPr>
              <a:t>相册、歌单、心情彼此不相连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521208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推荐不懂此刻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5431536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C4BBA8"/>
                </a:solidFill>
                <a:latin typeface="KaiTi"/>
                <a:ea typeface="KaiTi"/>
                <a:cs typeface="KaiTi"/>
              </a:rPr>
              <a:t>它知道你爱什么，不知道你现在是谁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5943600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6565392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IMAGE2SONG · HACKATHON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D9B878"/>
                </a:solidFill>
                <a:latin typeface="KaiTi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50"/>
              </a:spcBef>
            </a:pPr>
            <a:r>
              <a:rPr sz="819" b="0" spc="150">
                <a:solidFill>
                  <a:srgbClr val="D9B878"/>
                </a:solidFill>
                <a:latin typeface="Segoe Print"/>
              </a:rPr>
              <a:t>THE LITTLE POSTCARD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8521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40"/>
              </a:spcBef>
            </a:pPr>
            <a:r>
              <a:rPr sz="860" b="0" spc="140">
                <a:solidFill>
                  <a:srgbClr val="B9B09E"/>
                </a:solidFill>
                <a:latin typeface="Segoe Print"/>
              </a:rPr>
              <a:t>02 / 核心设计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841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6F0E3"/>
                </a:solidFill>
                <a:latin typeface="STXingkai"/>
              </a:rPr>
              <a:t>一张明信片，装着一个人的此刻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4CBB8"/>
                </a:solidFill>
                <a:latin typeface="KaiTi"/>
              </a:rPr>
              <a:t>正面是看见的风景，背面是说不出口的话；邮戳是一首歌。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" y="1664208"/>
            <a:ext cx="10972800" cy="0"/>
          </a:xfrm>
          <a:prstGeom prst="line">
            <a:avLst/>
          </a:prstGeom>
          <a:ln w="6350">
            <a:solidFill>
              <a:srgbClr val="D9B878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810512"/>
            <a:ext cx="2880360" cy="4443984"/>
          </a:xfrm>
          <a:prstGeom prst="roundRect">
            <a:avLst>
              <a:gd name="adj" fmla="val 2000"/>
            </a:avLst>
          </a:prstGeom>
          <a:solidFill>
            <a:srgbClr val="051226">
              <a:alpha val="20000"/>
            </a:srgbClr>
          </a:solidFill>
          <a:ln>
            <a:solidFill>
              <a:srgbClr val="051226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6537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20"/>
              </a:spcBef>
            </a:pPr>
            <a:r>
              <a:rPr sz="800" b="0" spc="120">
                <a:solidFill>
                  <a:srgbClr val="D9B878"/>
                </a:solidFill>
                <a:latin typeface="Segoe Print"/>
              </a:rPr>
              <a:t>THE POSTCARD / 它是什么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50" b="0">
                <a:solidFill>
                  <a:srgbClr val="F6F0E3"/>
                </a:solidFill>
                <a:latin typeface="STXingkai"/>
              </a:rPr>
              <a:t>一张纸，两个面。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624328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30" b="0">
                <a:solidFill>
                  <a:srgbClr val="C9C0AE"/>
                </a:solidFill>
                <a:latin typeface="KaiTi"/>
              </a:rPr>
              <a:t>它比一条动态慢一点，</a:t>
            </a:r>
          </a:p>
          <a:p>
            <a:pPr algn="l">
              <a:lnSpc>
                <a:spcPct val="145000"/>
              </a:lnSpc>
            </a:pPr>
            <a:r>
              <a:rPr sz="930" b="0">
                <a:solidFill>
                  <a:srgbClr val="C9C0AE"/>
                </a:solidFill>
                <a:latin typeface="KaiTi"/>
              </a:rPr>
              <a:t>也更值得被留下。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18211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90" b="0">
                <a:solidFill>
                  <a:srgbClr val="D9B878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0">
                <a:solidFill>
                  <a:srgbClr val="F6F0E3"/>
                </a:solidFill>
                <a:latin typeface="KaiTi"/>
              </a:rPr>
              <a:t>正面 / 一张照片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>
                <a:solidFill>
                  <a:srgbClr val="C4BBA8"/>
                </a:solidFill>
                <a:latin typeface="KaiTi"/>
              </a:rPr>
              <a:t>你看见的晚霞、风和那一刻。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84048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90" b="0">
                <a:solidFill>
                  <a:srgbClr val="D9B878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0">
                <a:solidFill>
                  <a:srgbClr val="F6F0E3"/>
                </a:solidFill>
                <a:latin typeface="KaiTi"/>
              </a:rPr>
              <a:t>背面 / 一句话、署名、日期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>
                <a:solidFill>
                  <a:srgbClr val="C4BBA8"/>
                </a:solidFill>
                <a:latin typeface="KaiTi"/>
              </a:rPr>
              <a:t>当时没说出口的，留给下一个人。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449884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90" b="0">
                <a:solidFill>
                  <a:srgbClr val="D9B878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0">
                <a:solidFill>
                  <a:srgbClr val="F6F0E3"/>
                </a:solidFill>
                <a:latin typeface="KaiTi"/>
              </a:rPr>
              <a:t>邮票 / 这首歌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2744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>
                <a:solidFill>
                  <a:srgbClr val="C4BBA8"/>
                </a:solidFill>
                <a:latin typeface="KaiTi"/>
              </a:rPr>
              <a:t>翻到背面，才会听见。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5321808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DD39A"/>
                </a:solidFill>
                <a:latin typeface="Segoe Print"/>
              </a:rPr>
              <a:t>一张纸，两个面；</a:t>
            </a:r>
          </a:p>
          <a:p>
            <a:pPr algn="l">
              <a:lnSpc>
                <a:spcPct val="130000"/>
              </a:lnSpc>
            </a:pPr>
            <a:r>
              <a:rPr sz="1180" b="0">
                <a:solidFill>
                  <a:srgbClr val="EDD39A"/>
                </a:solidFill>
                <a:latin typeface="Segoe Print"/>
              </a:rPr>
              <a:t>一个人，两个时刻。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283464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"/>
              </a:spcBef>
            </a:pPr>
            <a:r>
              <a:rPr sz="819" b="0" spc="80">
                <a:solidFill>
                  <a:srgbClr val="D9B878"/>
                </a:solidFill>
                <a:latin typeface="Segoe Print"/>
              </a:rPr>
              <a:t>正面 / 一张照片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4" y="3227832"/>
            <a:ext cx="1783080" cy="2331720"/>
          </a:xfrm>
          <a:prstGeom prst="roundRect">
            <a:avLst>
              <a:gd name="adj" fmla="val 3000"/>
            </a:avLst>
          </a:prstGeom>
          <a:solidFill>
            <a:srgbClr val="051123">
              <a:alpha val="45000"/>
            </a:srgbClr>
          </a:solidFill>
          <a:ln>
            <a:solidFill>
              <a:srgbClr val="051123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6432" y="3154680"/>
            <a:ext cx="1783080" cy="233172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8255">
            <a:solidFill>
              <a:srgbClr val="D9B878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3282696"/>
            <a:ext cx="1545336" cy="154533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575304" y="3282696"/>
            <a:ext cx="1545336" cy="1545336"/>
          </a:xfrm>
          <a:prstGeom prst="rect">
            <a:avLst/>
          </a:prstGeom>
          <a:noFill/>
          <a:ln w="5715">
            <a:solidFill>
              <a:srgbClr val="B79A6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489204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0" b="0">
                <a:solidFill>
                  <a:srgbClr val="6E685D"/>
                </a:solidFill>
                <a:latin typeface="KaiTi"/>
              </a:rPr>
              <a:t>2026 · 某个傍晚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801368"/>
            <a:ext cx="6108192" cy="3931920"/>
          </a:xfrm>
          <a:prstGeom prst="roundRect">
            <a:avLst>
              <a:gd name="adj" fmla="val 3000"/>
            </a:avLst>
          </a:prstGeom>
          <a:solidFill>
            <a:srgbClr val="051123">
              <a:alpha val="40000"/>
            </a:srgbClr>
          </a:solidFill>
          <a:ln>
            <a:solidFill>
              <a:srgbClr val="051123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04688" y="1728216"/>
            <a:ext cx="6108192" cy="3931920"/>
          </a:xfrm>
          <a:prstGeom prst="roundRect">
            <a:avLst>
              <a:gd name="adj" fmla="val 2800"/>
            </a:avLst>
          </a:prstGeom>
          <a:solidFill>
            <a:srgbClr val="FBF7EE"/>
          </a:solidFill>
          <a:ln w="9525">
            <a:solidFill>
              <a:srgbClr val="D9B878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1911095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60"/>
              </a:spcBef>
            </a:pPr>
            <a:r>
              <a:rPr sz="950" b="0" spc="160">
                <a:solidFill>
                  <a:srgbClr val="9A7238"/>
                </a:solidFill>
                <a:latin typeface="Segoe Print"/>
              </a:rPr>
              <a:t>POST 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19456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6E685D"/>
                </a:solidFill>
                <a:latin typeface="KaiTi"/>
              </a:rPr>
              <a:t>写给抬头看星星的人：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2459736"/>
            <a:ext cx="24871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20" b="0">
                <a:solidFill>
                  <a:srgbClr val="3E495B"/>
                </a:solidFill>
                <a:latin typeface="STXingkai"/>
              </a:rPr>
              <a:t>如果夜里有风，</a:t>
            </a:r>
          </a:p>
          <a:p>
            <a:pPr algn="l">
              <a:lnSpc>
                <a:spcPct val="132000"/>
              </a:lnSpc>
            </a:pPr>
            <a:r>
              <a:rPr sz="1620" b="0">
                <a:solidFill>
                  <a:srgbClr val="3E495B"/>
                </a:solidFill>
                <a:latin typeface="STXingkai"/>
              </a:rPr>
              <a:t>那是我在替你赶路。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9319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0">
                <a:solidFill>
                  <a:srgbClr val="6E685D"/>
                </a:solidFill>
                <a:latin typeface="KaiTi"/>
              </a:rPr>
              <a:t>— 一位路过的人 · 10.17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00176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9A7238"/>
                </a:solidFill>
                <a:latin typeface="Segoe Print"/>
              </a:rPr>
              <a:t>一张照片，一句话，一首歌。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49640" y="1920240"/>
            <a:ext cx="0" cy="3291840"/>
          </a:xfrm>
          <a:prstGeom prst="line">
            <a:avLst/>
          </a:prstGeom>
          <a:ln w="5715">
            <a:solidFill>
              <a:srgbClr val="D9B878">
                <a:alpha val="5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32520" y="19476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"/>
              </a:spcBef>
            </a:pPr>
            <a:r>
              <a:rPr sz="700" b="0" spc="80">
                <a:solidFill>
                  <a:srgbClr val="9A7238"/>
                </a:solidFill>
                <a:latin typeface="KaiTi"/>
              </a:rPr>
              <a:t>这张明信片带来的歌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1671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90" b="0">
                <a:solidFill>
                  <a:srgbClr val="3E495B"/>
                </a:solidFill>
                <a:latin typeface="STXingkai"/>
              </a:rPr>
              <a:t>出现又离开 (Live)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4688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6E685D"/>
                </a:solidFill>
                <a:latin typeface="KaiTi"/>
              </a:rPr>
              <a:t>梁博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80192" y="1901952"/>
            <a:ext cx="566928" cy="658368"/>
          </a:xfrm>
          <a:prstGeom prst="roundRect">
            <a:avLst>
              <a:gd name="adj" fmla="val 4000"/>
            </a:avLst>
          </a:prstGeom>
          <a:solidFill>
            <a:srgbClr val="F1E6D2"/>
          </a:solidFill>
          <a:ln w="10160">
            <a:solidFill>
              <a:srgbClr val="9A72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80192" y="20391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9D3B2E"/>
                </a:solidFill>
                <a:latin typeface="KaiTi"/>
              </a:rPr>
              <a:t>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61518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0" b="0">
                <a:solidFill>
                  <a:srgbClr val="9A7238"/>
                </a:solidFill>
                <a:latin typeface="KaiTi"/>
              </a:rPr>
              <a:t>邮票 / 一首歌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32520" y="3401568"/>
            <a:ext cx="2057400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32520" y="3675887"/>
            <a:ext cx="2057400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32520" y="3950208"/>
            <a:ext cx="2057400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32520" y="50657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680" b="0" spc="200">
                <a:solidFill>
                  <a:srgbClr val="9A7238"/>
                </a:solidFill>
                <a:latin typeface="Segoe Print"/>
              </a:rPr>
              <a:t>POST 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01984" y="18105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D9B878"/>
                </a:solidFill>
                <a:latin typeface="KaiTi"/>
              </a:rPr>
              <a:t>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56539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"/>
              </a:spcBef>
            </a:pPr>
            <a:r>
              <a:rPr sz="710" b="0" spc="80">
                <a:solidFill>
                  <a:srgbClr val="B9B19F"/>
                </a:solidFill>
                <a:latin typeface="Georgia"/>
              </a:rPr>
              <a:t>IMAGE2SONG · HACKATHON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80"/>
              </a:spcBef>
            </a:pPr>
            <a:r>
              <a:rPr sz="710" b="0" spc="80">
                <a:solidFill>
                  <a:srgbClr val="B9B19F"/>
                </a:solidFill>
                <a:latin typeface="Georgia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5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85216"/>
            <a:ext cx="107899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 spc="50">
                <a:solidFill>
                  <a:srgbClr val="D9B878"/>
                </a:solidFill>
                <a:latin typeface="KaiTi"/>
                <a:ea typeface="KaiTi"/>
                <a:cs typeface="KaiTi"/>
              </a:rPr>
              <a:t>03 / 基于明信片的核心功能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503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9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基于这张明信片，我们做了三件事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73352"/>
            <a:ext cx="10927080" cy="7315"/>
          </a:xfrm>
          <a:prstGeom prst="roundRect">
            <a:avLst>
              <a:gd name="adj" fmla="val 0"/>
            </a:avLst>
          </a:prstGeom>
          <a:solidFill>
            <a:srgbClr val="D9B87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716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4CBB8"/>
                </a:solidFill>
                <a:latin typeface="KaiTi"/>
                <a:ea typeface="KaiTi"/>
                <a:cs typeface="KaiTi"/>
              </a:rPr>
              <a:t>看见 · 听见 · 留下，三个动作都从这张明信片开始。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92224"/>
            <a:ext cx="4160520" cy="3968496"/>
          </a:xfrm>
          <a:prstGeom prst="roundRect">
            <a:avLst>
              <a:gd name="adj" fmla="val 3500"/>
            </a:avLst>
          </a:prstGeom>
          <a:solidFill>
            <a:srgbClr val="071A31">
              <a:alpha val="48000"/>
            </a:srgbClr>
          </a:solidFill>
          <a:ln w="5715">
            <a:solidFill>
              <a:srgbClr val="D9B878">
                <a:alpha val="7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920240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933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94767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20" b="0" i="0" spc="160">
                <a:solidFill>
                  <a:srgbClr val="F7EEDC"/>
                </a:solidFill>
                <a:latin typeface="KaiTi"/>
                <a:ea typeface="KaiTi"/>
                <a:cs typeface="KaiTi"/>
              </a:rPr>
              <a:t>看 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231136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8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找到一张与你此刻
相近的明信片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98064"/>
            <a:ext cx="33375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0" b="0" i="0">
                <a:solidFill>
                  <a:srgbClr val="C9C0AE"/>
                </a:solidFill>
                <a:latin typeface="KaiTi"/>
                <a:ea typeface="KaiTi"/>
                <a:cs typeface="KaiTi"/>
              </a:rPr>
              <a:t>图片相似为主；文字与情绪
只在相近候选之间轻微微调。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8211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1363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20" b="0" i="0" spc="160">
                <a:solidFill>
                  <a:srgbClr val="F7EEDC"/>
                </a:solidFill>
                <a:latin typeface="KaiTi"/>
                <a:ea typeface="KaiTi"/>
                <a:cs typeface="KaiTi"/>
              </a:rPr>
              <a:t>听 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19856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8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翻面，歌就响起来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986784"/>
            <a:ext cx="33375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0" b="0" i="0">
                <a:solidFill>
                  <a:srgbClr val="C9C0AE"/>
                </a:solidFill>
                <a:latin typeface="KaiTi"/>
                <a:ea typeface="KaiTi"/>
                <a:cs typeface="KaiTi"/>
              </a:rPr>
              <a:t>明信片背面带着一首歌；
从明信片走进这首歌的星群。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7083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3251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20" b="0" i="0" spc="160">
                <a:solidFill>
                  <a:srgbClr val="F7EEDC"/>
                </a:solidFill>
                <a:latin typeface="KaiTi"/>
                <a:ea typeface="KaiTi"/>
                <a:cs typeface="KaiTi"/>
              </a:rPr>
              <a:t>留 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608576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8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把此刻留在星空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5175504"/>
            <a:ext cx="33375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0" b="0" i="0">
                <a:solidFill>
                  <a:srgbClr val="C9C0AE"/>
                </a:solidFill>
                <a:latin typeface="KaiTi"/>
                <a:ea typeface="KaiTi"/>
                <a:cs typeface="KaiTi"/>
              </a:rPr>
              <a:t>读完后自愿留下照片和这句话，
成为下一个人的回信。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3188" y="1760220"/>
            <a:ext cx="6638544" cy="4187952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762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ow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810512"/>
            <a:ext cx="6537960" cy="408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" y="588873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EDD39A"/>
                </a:solidFill>
                <a:latin typeface="Segoe Print"/>
                <a:ea typeface="Segoe Print"/>
                <a:cs typeface="Segoe Print"/>
              </a:rPr>
              <a:t>不是找到一首歌，
是找到那个与你相似的人。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65392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IMAGE2SONG ·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5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85216"/>
            <a:ext cx="107899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 spc="50">
                <a:solidFill>
                  <a:srgbClr val="D9B878"/>
                </a:solidFill>
                <a:latin typeface="KaiTi"/>
                <a:ea typeface="KaiTi"/>
                <a:cs typeface="KaiTi"/>
              </a:rPr>
              <a:t>04 / 完整体验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503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从一张照片，到一封被接住的信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73352"/>
            <a:ext cx="10927080" cy="7315"/>
          </a:xfrm>
          <a:prstGeom prst="roundRect">
            <a:avLst>
              <a:gd name="adj" fmla="val 0"/>
            </a:avLst>
          </a:prstGeom>
          <a:solidFill>
            <a:srgbClr val="D9B87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08176"/>
            <a:ext cx="8869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FC6B3"/>
                </a:solidFill>
                <a:latin typeface="KaiTi"/>
                <a:ea typeface="KaiTi"/>
                <a:cs typeface="KaiTi"/>
              </a:rPr>
              <a:t>五幕 · 约 30 秒 · 五段现场 GIF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39903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现场 GIF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" y="1805939"/>
            <a:ext cx="2130552" cy="137160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352" y="1719072"/>
            <a:ext cx="256032" cy="256032"/>
          </a:xfrm>
          <a:prstGeom prst="ellipse">
            <a:avLst/>
          </a:prstGeom>
          <a:solidFill>
            <a:srgbClr val="F6F0E3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64792"/>
            <a:ext cx="25603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73552"/>
            <a:ext cx="2029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01  寄一张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49300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B7AE9C"/>
                </a:solidFill>
                <a:latin typeface="KaiTi"/>
                <a:ea typeface="KaiTi"/>
                <a:cs typeface="KaiTi"/>
              </a:rPr>
              <a:t>上传照片，写一句话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35000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2908" y="1805939"/>
            <a:ext cx="2130552" cy="137160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88920" y="1719072"/>
            <a:ext cx="256032" cy="256032"/>
          </a:xfrm>
          <a:prstGeom prst="ellipse">
            <a:avLst/>
          </a:prstGeom>
          <a:solidFill>
            <a:srgbClr val="F6F0E3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764792"/>
            <a:ext cx="25603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73552"/>
            <a:ext cx="2029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02  穿过星光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9300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B7AE9C"/>
                </a:solidFill>
                <a:latin typeface="KaiTi"/>
                <a:ea typeface="KaiTi"/>
                <a:cs typeface="KaiTi"/>
              </a:rPr>
              <a:t>深蓝加载动画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235000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1476" y="1805939"/>
            <a:ext cx="2130552" cy="137160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47488" y="1719072"/>
            <a:ext cx="256032" cy="256032"/>
          </a:xfrm>
          <a:prstGeom prst="ellipse">
            <a:avLst/>
          </a:prstGeom>
          <a:solidFill>
            <a:srgbClr val="F6F0E3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1764792"/>
            <a:ext cx="25603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3273552"/>
            <a:ext cx="2029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03  星空的回信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349300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B7AE9C"/>
                </a:solidFill>
                <a:latin typeface="KaiTi"/>
                <a:ea typeface="KaiTi"/>
                <a:cs typeface="KaiTi"/>
              </a:rPr>
              <a:t>一张前人留下的明信片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235000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10044" y="1805939"/>
            <a:ext cx="2130552" cy="137160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6056" y="1719072"/>
            <a:ext cx="256032" cy="256032"/>
          </a:xfrm>
          <a:prstGeom prst="ellipse">
            <a:avLst/>
          </a:prstGeom>
          <a:solidFill>
            <a:srgbClr val="F6F0E3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06056" y="1764792"/>
            <a:ext cx="25603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0336" y="3273552"/>
            <a:ext cx="2029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04  翻到背面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349300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B7AE9C"/>
                </a:solidFill>
                <a:latin typeface="KaiTi"/>
                <a:ea typeface="KaiTi"/>
                <a:cs typeface="KaiTi"/>
              </a:rPr>
              <a:t>读信，听见那首歌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35000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D9B87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8612" y="1805939"/>
            <a:ext cx="2130552" cy="137160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64624" y="1719072"/>
            <a:ext cx="256032" cy="256032"/>
          </a:xfrm>
          <a:prstGeom prst="ellipse">
            <a:avLst/>
          </a:prstGeom>
          <a:solidFill>
            <a:srgbClr val="F6F0E3"/>
          </a:solidFill>
          <a:ln w="635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4624" y="1764792"/>
            <a:ext cx="25603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904" y="3273552"/>
            <a:ext cx="2029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F7EEDC"/>
                </a:solidFill>
                <a:latin typeface="KaiTi"/>
                <a:ea typeface="KaiTi"/>
                <a:cs typeface="KaiTi"/>
              </a:rPr>
              <a:t>05  留在星空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8904" y="349300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B7AE9C"/>
                </a:solidFill>
                <a:latin typeface="KaiTi"/>
                <a:ea typeface="KaiTi"/>
                <a:cs typeface="KaiTi"/>
              </a:rPr>
              <a:t>把此刻交给下一个人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42428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7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从表达，到被接住，再到传递。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82896"/>
            <a:ext cx="9966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C8BFAD"/>
                </a:solidFill>
                <a:latin typeface="KaiTi"/>
                <a:ea typeface="KaiTi"/>
                <a:cs typeface="KaiTi"/>
              </a:rPr>
              <a:t>加载不是等待，而是故事的一部分；结果不是终点，而是下一次传递的开始。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577840"/>
            <a:ext cx="4389120" cy="9144"/>
          </a:xfrm>
          <a:prstGeom prst="roundRect">
            <a:avLst>
              <a:gd name="adj" fmla="val 0"/>
            </a:avLst>
          </a:prstGeom>
          <a:solidFill>
            <a:srgbClr val="D9B87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9671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 spc="13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表达   ·   相遇   ·   传递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565392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IMAGE2SONG · HACKATHON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05 / 08</a:t>
            </a:r>
          </a:p>
        </p:txBody>
      </p:sp>
      <p:pic>
        <p:nvPicPr>
          <p:cNvPr id="50" name="Picture 49" descr="image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1856231"/>
            <a:ext cx="2029968" cy="1271016"/>
          </a:xfrm>
          <a:prstGeom prst="rect">
            <a:avLst/>
          </a:prstGeom>
        </p:spPr>
      </p:pic>
      <p:pic>
        <p:nvPicPr>
          <p:cNvPr id="51" name="Picture 50" descr="image.g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1856231"/>
            <a:ext cx="2029968" cy="1271016"/>
          </a:xfrm>
          <a:prstGeom prst="rect">
            <a:avLst/>
          </a:prstGeom>
        </p:spPr>
      </p:pic>
      <p:pic>
        <p:nvPicPr>
          <p:cNvPr id="52" name="Picture 51" descr="image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1768" y="1856231"/>
            <a:ext cx="2029968" cy="1271016"/>
          </a:xfrm>
          <a:prstGeom prst="rect">
            <a:avLst/>
          </a:prstGeom>
        </p:spPr>
      </p:pic>
      <p:pic>
        <p:nvPicPr>
          <p:cNvPr id="53" name="Picture 52" descr="image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0336" y="1856231"/>
            <a:ext cx="2029968" cy="1271016"/>
          </a:xfrm>
          <a:prstGeom prst="rect">
            <a:avLst/>
          </a:prstGeom>
        </p:spPr>
      </p:pic>
      <p:pic>
        <p:nvPicPr>
          <p:cNvPr id="54" name="Picture 53" descr="flow-leave.gi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18904" y="1856231"/>
            <a:ext cx="2029968" cy="1271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D9B878"/>
                </a:solidFill>
                <a:latin typeface="KaiTi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 spc="150">
                <a:solidFill>
                  <a:srgbClr val="D9B878"/>
                </a:solidFill>
                <a:latin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8521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spc="140">
                <a:solidFill>
                  <a:srgbClr val="B9B09E"/>
                </a:solidFill>
                <a:latin typeface="Segoe Print"/>
              </a:rPr>
              <a:t>05 / 一个演示案例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41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6F0E3"/>
                </a:solidFill>
                <a:latin typeface="STXingkai"/>
              </a:rPr>
              <a:t>用一张火烧云，走完一次回信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4CBB8"/>
                </a:solidFill>
                <a:latin typeface="KaiTi"/>
              </a:rPr>
              <a:t>输入：一张照片 + 一句话（署名留空）   ·   输出：一张明信片 + 一首歌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664208"/>
            <a:ext cx="10972800" cy="0"/>
          </a:xfrm>
          <a:prstGeom prst="line">
            <a:avLst/>
          </a:prstGeom>
          <a:ln w="6350">
            <a:solidFill>
              <a:srgbClr val="D9B878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1810512"/>
            <a:ext cx="4370832" cy="4352544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8890">
            <a:solidFill>
              <a:srgbClr val="D9B878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40">
                <a:solidFill>
                  <a:srgbClr val="9A7238"/>
                </a:solidFill>
                <a:latin typeface="Segoe Print"/>
              </a:rPr>
              <a:t>INPUT / 此刻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221992"/>
            <a:ext cx="3840480" cy="2880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2221992"/>
            <a:ext cx="3840480" cy="2880360"/>
          </a:xfrm>
          <a:prstGeom prst="rect">
            <a:avLst/>
          </a:prstGeom>
          <a:noFill/>
          <a:ln w="7620">
            <a:solidFill>
              <a:srgbClr val="B79862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>
                <a:solidFill>
                  <a:srgbClr val="3E495B"/>
                </a:solidFill>
                <a:latin typeface="STXingkai"/>
              </a:rPr>
              <a:t>好美的火烧云呀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013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9A7238"/>
                </a:solidFill>
                <a:latin typeface="KaiTi"/>
              </a:rPr>
              <a:t>署名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6509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E685D"/>
                </a:solidFill>
                <a:latin typeface="KaiTi"/>
              </a:rPr>
              <a:t>（留空）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5788152"/>
            <a:ext cx="2651760" cy="0"/>
          </a:xfrm>
          <a:prstGeom prst="line">
            <a:avLst/>
          </a:prstGeom>
          <a:ln w="5080">
            <a:solidFill>
              <a:srgbClr val="B79862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56048" y="341985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D9B878"/>
                </a:solidFill>
                <a:latin typeface="KaiT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877056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9A7238"/>
                </a:solidFill>
                <a:latin typeface="KaiTi"/>
              </a:rPr>
              <a:t>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938528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40">
                <a:solidFill>
                  <a:srgbClr val="9A7238"/>
                </a:solidFill>
                <a:latin typeface="Segoe Print"/>
              </a:rPr>
              <a:t>OUTPUT / 一封回信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2286000"/>
            <a:ext cx="5779008" cy="3694176"/>
          </a:xfrm>
          <a:prstGeom prst="roundRect">
            <a:avLst>
              <a:gd name="adj" fmla="val 3000"/>
            </a:avLst>
          </a:prstGeom>
          <a:solidFill>
            <a:srgbClr val="051123">
              <a:alpha val="38000"/>
            </a:srgbClr>
          </a:solidFill>
          <a:ln>
            <a:solidFill>
              <a:srgbClr val="051123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2212848"/>
            <a:ext cx="5779008" cy="3694176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9525">
            <a:solidFill>
              <a:srgbClr val="D9B878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23774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60">
                <a:solidFill>
                  <a:srgbClr val="9A7238"/>
                </a:solidFill>
                <a:latin typeface="Segoe Print"/>
              </a:rPr>
              <a:t>POST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024" y="26334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E685D"/>
                </a:solidFill>
                <a:latin typeface="KaiTi"/>
              </a:rPr>
              <a:t>写给看见同一片天空的人：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2898648"/>
            <a:ext cx="239572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3E495B"/>
                </a:solidFill>
                <a:latin typeface="STXingkai"/>
              </a:rPr>
              <a:t>我也见过这样的天空，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3E495B"/>
                </a:solidFill>
                <a:latin typeface="STXingkai"/>
              </a:rPr>
              <a:t>只是那天没来得及说。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42702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0">
                <a:solidFill>
                  <a:srgbClr val="6E685D"/>
                </a:solidFill>
                <a:latin typeface="KaiTi"/>
              </a:rPr>
              <a:t>— 一位路过的人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523036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9A7238"/>
                </a:solidFill>
                <a:latin typeface="Segoe Print"/>
              </a:rPr>
              <a:t>一张照片，一句话，一首歌。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0" y="2395728"/>
            <a:ext cx="0" cy="3182112"/>
          </a:xfrm>
          <a:prstGeom prst="line">
            <a:avLst/>
          </a:prstGeom>
          <a:ln w="5715">
            <a:solidFill>
              <a:srgbClr val="D9B878">
                <a:alpha val="5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96528" y="24140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spc="60">
                <a:solidFill>
                  <a:srgbClr val="9A7238"/>
                </a:solidFill>
                <a:latin typeface="KaiTi"/>
              </a:rPr>
              <a:t>这张明信片带来的歌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2633472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E495B"/>
                </a:solidFill>
                <a:latin typeface="STXingkai"/>
              </a:rPr>
              <a:t>《火烧云》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99923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85D"/>
                </a:solidFill>
                <a:latin typeface="KaiTi"/>
              </a:rPr>
              <a:t>Vicky宣宣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44200" y="2359152"/>
            <a:ext cx="566928" cy="658368"/>
          </a:xfrm>
          <a:prstGeom prst="roundRect">
            <a:avLst>
              <a:gd name="adj" fmla="val 4000"/>
            </a:avLst>
          </a:prstGeom>
          <a:solidFill>
            <a:srgbClr val="F1E6D2"/>
          </a:solidFill>
          <a:ln w="10160">
            <a:solidFill>
              <a:srgbClr val="9A72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24963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9D3B2E"/>
                </a:solidFill>
                <a:latin typeface="KaiTi"/>
              </a:rPr>
              <a:t>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307238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0" b="0">
                <a:solidFill>
                  <a:srgbClr val="9A7238"/>
                </a:solidFill>
                <a:latin typeface="KaiTi"/>
              </a:rPr>
              <a:t>邮票 / 一首歌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96528" y="3767328"/>
            <a:ext cx="2066544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96528" y="4041648"/>
            <a:ext cx="2066544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96528" y="4315968"/>
            <a:ext cx="2066544" cy="0"/>
          </a:xfrm>
          <a:prstGeom prst="line">
            <a:avLst/>
          </a:prstGeom>
          <a:ln w="4445">
            <a:solidFill>
              <a:srgbClr val="C4B291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96528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80" b="0" spc="200">
                <a:solidFill>
                  <a:srgbClr val="9A7238"/>
                </a:solidFill>
                <a:latin typeface="Segoe Print"/>
              </a:rPr>
              <a:t>POST 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11128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D9B878"/>
                </a:solidFill>
                <a:latin typeface="KaiTi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656539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10" b="0" spc="80">
                <a:solidFill>
                  <a:srgbClr val="B9B19F"/>
                </a:solidFill>
                <a:latin typeface="Georgia"/>
              </a:rPr>
              <a:t>IMAGE2SONG · HACKATHON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710" b="0" spc="80">
                <a:solidFill>
                  <a:srgbClr val="B9B19F"/>
                </a:solidFill>
                <a:latin typeface="Georgia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5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85216"/>
            <a:ext cx="107899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 spc="50">
                <a:solidFill>
                  <a:srgbClr val="D9B878"/>
                </a:solidFill>
                <a:latin typeface="KaiTi"/>
                <a:ea typeface="KaiTi"/>
                <a:cs typeface="KaiTi"/>
              </a:rPr>
              <a:t>06 / 技术实现与边界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503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让浪漫发生，让系统保持简单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73352"/>
            <a:ext cx="10927080" cy="7315"/>
          </a:xfrm>
          <a:prstGeom prst="roundRect">
            <a:avLst>
              <a:gd name="adj" fmla="val 0"/>
            </a:avLst>
          </a:prstGeom>
          <a:solidFill>
            <a:srgbClr val="D9B87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" y="1847088"/>
            <a:ext cx="6537960" cy="4251960"/>
          </a:xfrm>
          <a:prstGeom prst="roundRect">
            <a:avLst>
              <a:gd name="adj" fmla="val 6000"/>
            </a:avLst>
          </a:prstGeom>
          <a:solidFill>
            <a:srgbClr val="020917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73936"/>
            <a:ext cx="6537960" cy="4251960"/>
          </a:xfrm>
          <a:prstGeom prst="roundRect">
            <a:avLst>
              <a:gd name="adj" fmla="val 6000"/>
            </a:avLst>
          </a:prstGeom>
          <a:solidFill>
            <a:srgbClr val="F6F0E3"/>
          </a:solidFill>
          <a:ln w="10160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7510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20">
                <a:solidFill>
                  <a:srgbClr val="9A7238"/>
                </a:solidFill>
                <a:latin typeface="Segoe Print"/>
                <a:ea typeface="Segoe Print"/>
                <a:cs typeface="Segoe Print"/>
              </a:rPr>
              <a:t>UNDER THE HOOD  /  技术实现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128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50" b="0" i="0">
                <a:solidFill>
                  <a:srgbClr val="3E495B"/>
                </a:solidFill>
                <a:latin typeface="STXingkai"/>
                <a:ea typeface="STXingkai"/>
                <a:cs typeface="STXingkai"/>
              </a:rPr>
              <a:t>一个小而完整的闭环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1481328" cy="512064"/>
          </a:xfrm>
          <a:prstGeom prst="roundRect">
            <a:avLst>
              <a:gd name="adj" fmla="val 2000"/>
            </a:avLst>
          </a:prstGeom>
          <a:solidFill>
            <a:srgbClr val="FBF7EE"/>
          </a:solidFill>
          <a:ln w="6985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07208"/>
            <a:ext cx="140817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照片 + 一句话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651760"/>
            <a:ext cx="1691640" cy="512064"/>
          </a:xfrm>
          <a:prstGeom prst="roundRect">
            <a:avLst>
              <a:gd name="adj" fmla="val 2000"/>
            </a:avLst>
          </a:prstGeom>
          <a:solidFill>
            <a:srgbClr val="FBF7EE"/>
          </a:solidFill>
          <a:ln w="6985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807208"/>
            <a:ext cx="16184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CLIP / 文本 / 情绪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651760"/>
            <a:ext cx="1600200" cy="512064"/>
          </a:xfrm>
          <a:prstGeom prst="roundRect">
            <a:avLst>
              <a:gd name="adj" fmla="val 2000"/>
            </a:avLst>
          </a:prstGeom>
          <a:solidFill>
            <a:srgbClr val="FBF7EE"/>
          </a:solidFill>
          <a:ln w="6985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807208"/>
            <a:ext cx="1527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明信片 + 一首歌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706624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06624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9A7238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419856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9A723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38144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Flask + SQLite  ·  完全本地离线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785616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9A723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03904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图片优先；文字与情绪只在相近候选之间微调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51376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9A723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9663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Canvas / SVG / 手绘 UI，把等待也变成叙事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517136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9A723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35424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不展示分数、百分比或置信度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376672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80">
                <a:solidFill>
                  <a:srgbClr val="9A7238"/>
                </a:solidFill>
                <a:latin typeface="KaiTi"/>
                <a:ea typeface="KaiTi"/>
                <a:cs typeface="KaiTi"/>
              </a:rPr>
              <a:t>229 张素材  ·  47 首歌  ·  46 段本地音频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8" y="1847088"/>
            <a:ext cx="4251960" cy="1920240"/>
          </a:xfrm>
          <a:prstGeom prst="roundRect">
            <a:avLst>
              <a:gd name="adj" fmla="val 6000"/>
            </a:avLst>
          </a:prstGeom>
          <a:solidFill>
            <a:srgbClr val="020917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60920" y="1773936"/>
            <a:ext cx="4251960" cy="1920240"/>
          </a:xfrm>
          <a:prstGeom prst="roundRect">
            <a:avLst>
              <a:gd name="adj" fmla="val 6000"/>
            </a:avLst>
          </a:prstGeom>
          <a:solidFill>
            <a:srgbClr val="F6F0E3"/>
          </a:solidFill>
          <a:ln w="10160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956816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9D3B2E"/>
                </a:solidFill>
                <a:latin typeface="STXingkai"/>
                <a:ea typeface="STXingkai"/>
                <a:cs typeface="STXingkai"/>
              </a:rPr>
              <a:t>这是一个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2286000"/>
            <a:ext cx="3703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·  229 条固定素材 / 47 首歌，全部离线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2633472"/>
            <a:ext cx="3703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·  CPU 单机 · 无账号 / 审核 / 版权系统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2980944"/>
            <a:ext cx="3703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3E495B"/>
                </a:solidFill>
                <a:latin typeface="KaiTi"/>
                <a:ea typeface="KaiTi"/>
                <a:cs typeface="KaiTi"/>
              </a:rPr>
              <a:t>·  每次只返回一条结果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3858768"/>
            <a:ext cx="4251960" cy="2011680"/>
          </a:xfrm>
          <a:prstGeom prst="roundRect">
            <a:avLst>
              <a:gd name="adj" fmla="val 4000"/>
            </a:avLst>
          </a:prstGeom>
          <a:solidFill>
            <a:srgbClr val="0F2B47"/>
          </a:solidFill>
          <a:ln w="10160">
            <a:solidFill>
              <a:srgbClr val="D9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40416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DD39A"/>
                </a:solidFill>
                <a:latin typeface="STXingkai"/>
                <a:ea typeface="STXingkai"/>
                <a:cs typeface="STXingkai"/>
              </a:rPr>
              <a:t>所以，它可以……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4370832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EFE5D1"/>
                </a:solidFill>
                <a:latin typeface="KaiTi"/>
                <a:ea typeface="KaiTi"/>
                <a:cs typeface="KaiTi"/>
              </a:rPr>
              <a:t>·  成为音乐平台的「场景 / 情绪」分支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470916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EFE5D1"/>
                </a:solidFill>
                <a:latin typeface="KaiTi"/>
                <a:ea typeface="KaiTi"/>
                <a:cs typeface="KaiTi"/>
              </a:rPr>
              <a:t>·  成为摄影、旅行社区的明信片功能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5047488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EFE5D1"/>
                </a:solidFill>
                <a:latin typeface="KaiTi"/>
                <a:ea typeface="KaiTi"/>
                <a:cs typeface="KaiTi"/>
              </a:rPr>
              <a:t>·  接上 UGC、审核、版权与实时推荐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144768"/>
            <a:ext cx="10835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DD39A"/>
                </a:solidFill>
                <a:latin typeface="Segoe Print"/>
                <a:ea typeface="Segoe Print"/>
                <a:cs typeface="Segoe Print"/>
              </a:rPr>
              <a:t>先用一个小而完整的闭环，证明情感可以被接住。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6565392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IMAGE2SONG · HACKATHON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D9B87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30175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15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21792"/>
            <a:ext cx="457200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 spc="140">
                <a:solidFill>
                  <a:srgbClr val="D9B878"/>
                </a:solidFill>
                <a:latin typeface="KaiTi"/>
                <a:ea typeface="KaiTi"/>
                <a:cs typeface="KaiTi"/>
              </a:rPr>
              <a:t>07 / 谢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0350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i="0" spc="120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70432"/>
            <a:ext cx="7498079" cy="1691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300" b="0" i="0">
                <a:solidFill>
                  <a:srgbClr val="F7EEDC"/>
                </a:solidFill>
                <a:latin typeface="STXingkai"/>
                <a:ea typeface="STXingkai"/>
                <a:cs typeface="STXingkai"/>
              </a:rPr>
              <a:t>谢谢每一个
还愿意抬头的人。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27248"/>
            <a:ext cx="1188720" cy="12801"/>
          </a:xfrm>
          <a:prstGeom prst="roundRect">
            <a:avLst>
              <a:gd name="adj" fmla="val 0"/>
            </a:avLst>
          </a:prstGeom>
          <a:solidFill>
            <a:srgbClr val="D9B87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EDD39A"/>
                </a:solidFill>
                <a:latin typeface="KaiTi"/>
                <a:ea typeface="KaiTi"/>
                <a:cs typeface="KaiTi"/>
              </a:rPr>
              <a:t>感谢这次黑客松，感谢评委与每一位参赛者。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C8BFAD"/>
                </a:solidFill>
                <a:latin typeface="KaiTi"/>
                <a:ea typeface="KaiTi"/>
                <a:cs typeface="KaiTi"/>
              </a:rPr>
              <a:t>也感谢所有把照片和心情留在星空里的人。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0" i="1">
                <a:solidFill>
                  <a:srgbClr val="D9B878"/>
                </a:solidFill>
                <a:latin typeface="Segoe Print"/>
                <a:ea typeface="Segoe Print"/>
                <a:cs typeface="Segoe Print"/>
              </a:rPr>
              <a:t>把此刻寄给星空，等待一个与你相似的人。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91072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THE LITTLE POSTCARD  ·  IMAGE2SONG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291072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10" b="0" i="0" spc="80">
                <a:solidFill>
                  <a:srgbClr val="B9B19F"/>
                </a:solidFill>
                <a:latin typeface="Georgia"/>
                <a:ea typeface="Georgia"/>
                <a:cs typeface="Georgia"/>
              </a:rPr>
              <a:t>08 / 08</a:t>
            </a:r>
          </a:p>
        </p:txBody>
      </p:sp>
      <p:pic>
        <p:nvPicPr>
          <p:cNvPr id="14" name="Picture 13" descr="m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896112"/>
            <a:ext cx="1600200" cy="1600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973568" y="42976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020917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60" y="4224528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6F0E3"/>
          </a:solidFill>
          <a:ln w="10160">
            <a:solidFill>
              <a:srgbClr val="9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07408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9A7238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43708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3E495B"/>
                </a:solidFill>
                <a:latin typeface="Segoe Print"/>
                <a:ea typeface="Segoe Print"/>
                <a:cs typeface="Segoe Print"/>
              </a:rPr>
              <a:t>The Little Postcard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709160"/>
            <a:ext cx="310896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E495B"/>
                </a:solidFill>
                <a:latin typeface="STXingkai"/>
                <a:ea typeface="STXingkai"/>
                <a:cs typeface="STXingkai"/>
              </a:rPr>
              <a:t>明信片的星空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084064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9A7238"/>
                </a:solidFill>
                <a:latin typeface="KaiTi"/>
                <a:ea typeface="KaiTi"/>
                <a:cs typeface="KaiTi"/>
              </a:rPr>
              <a:t>Demo 可现场体验  · 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Little Postcard · 明信片的星空</dc:title>
  <dc:subject>5-minute hackathon roadshow</dc:subject>
  <dc:creator>Image2Song / The Little Postcard</dc:creator>
  <cp:keywords/>
  <dc:description>7 slides · 16:9 · speaker notes included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